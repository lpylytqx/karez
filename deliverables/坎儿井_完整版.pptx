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9" r:id="rId20"/>
    <p:sldId id="270" r:id="rId21"/>
    <p:sldId id="271" r:id="rId22"/>
    <p:sldId id="272" r:id="rId23"/>
    <p:sldId id="263" r:id="rId14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_deck_A_绿洲全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15000"/>
            <a:ext cx="12191695" cy="1143000"/>
          </a:xfrm>
          <a:prstGeom prst="rect">
            <a:avLst/>
          </a:prstGeom>
          <a:solidFill>
            <a:srgbClr val="2B211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874519"/>
            <a:ext cx="155448" cy="178308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91640"/>
            <a:ext cx="8778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2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坎儿井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306324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新疆两千年水利遗产 · 一款能玩的经营游戏</a:t>
            </a:r>
          </a:p>
        </p:txBody>
      </p:sp>
      <p:sp>
        <p:nvSpPr>
          <p:cNvPr id="8" name="Rectangle 7"/>
          <p:cNvSpPr/>
          <p:nvPr/>
        </p:nvSpPr>
        <p:spPr>
          <a:xfrm>
            <a:off x="1316736" y="3675887"/>
            <a:ext cx="5486400" cy="17780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3858768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你扮演一位丝路驿丞，用坎儿井引来天山雪水，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把荒漠驿站建成绿洲重镇。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7161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代码一次敲队　·　李鹏宇 / 王焕楷 / 李云天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1100" b="0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指导教师：徐媛媛　/　李中岩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Picture 11" descr="deck_logo.png"/>
          <p:cNvPicPr>
            <a:picLocks noChangeAspect="1"/>
          </p:cNvPicPr>
          <p:nvPr/>
        </p:nvPicPr>
        <p:blipFill>
          <a:blip r:embed="rId3">
            <a:alphaModFix amt="5500"/>
          </a:blip>
          <a:stretch>
            <a:fillRect/>
          </a:stretch>
        </p:blipFill>
        <p:spPr>
          <a:xfrm>
            <a:off x="8214056" y="2697480"/>
            <a:ext cx="3840480" cy="3840480"/>
          </a:xfrm>
          <a:prstGeom prst="rect">
            <a:avLst/>
          </a:prstGeom>
        </p:spPr>
      </p:pic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17375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97055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17375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97055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3721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02 / 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6400800"/>
            <a:ext cx="128016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63550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坎儿井　·　代码一次敲队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4173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从一口井开始，把荒漠变回绿洲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" y="2121408"/>
            <a:ext cx="3108960" cy="1778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359152"/>
            <a:ext cx="10424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游戏里没有「开局送资源」这回事。你接手的驿站因为坎儿井淤塞、水源断绝而衰败 —— 第一件事只能是挖井。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7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而你挖的这个东西，在现实里已经用了两千多年。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3794760"/>
            <a:ext cx="91440" cy="9601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864" y="37033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6 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437083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竖井逐段打通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3794760"/>
            <a:ext cx="91440" cy="9601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4024" y="37033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+55 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437083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每段新增日出水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3794760"/>
            <a:ext cx="91440" cy="9601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37033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4 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37083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涝坝蓄水扩容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230368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实机截图：六段竖井全部挖通之后的绿洲</a:t>
            </a:r>
          </a:p>
        </p:txBody>
      </p:sp>
      <p:pic>
        <p:nvPicPr>
          <p:cNvPr id="28" name="Picture 27" descr="p2_绿洲横带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451538"/>
            <a:ext cx="9509760" cy="9658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Picture 11" descr="deck_logo.png"/>
          <p:cNvPicPr>
            <a:picLocks noChangeAspect="1"/>
          </p:cNvPicPr>
          <p:nvPr/>
        </p:nvPicPr>
        <p:blipFill>
          <a:blip r:embed="rId3">
            <a:alphaModFix amt="5500"/>
          </a:blip>
          <a:stretch>
            <a:fillRect/>
          </a:stretch>
        </p:blipFill>
        <p:spPr>
          <a:xfrm>
            <a:off x="8214056" y="2697480"/>
            <a:ext cx="3840480" cy="3840480"/>
          </a:xfrm>
          <a:prstGeom prst="rect">
            <a:avLst/>
          </a:prstGeom>
        </p:spPr>
      </p:pic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17375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97055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17375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97055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3721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03 / 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6400800"/>
            <a:ext cx="128016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63550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坎儿井　·　代码一次敲队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1887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九个岗位，抢的是同一批人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" y="1883664"/>
            <a:ext cx="3108960" cy="1778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139696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多派一个人去挖井，就少一个人种地。每一次分配都是取舍。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2834640"/>
            <a:ext cx="3035808" cy="859536"/>
          </a:xfrm>
          <a:prstGeom prst="roundRect">
            <a:avLst>
              <a:gd name="adj" fmla="val 8000"/>
            </a:avLst>
          </a:prstGeom>
          <a:solidFill>
            <a:srgbClr val="221A13">
              <a:alpha val="8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054096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治水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2834640"/>
            <a:ext cx="3035808" cy="859536"/>
          </a:xfrm>
          <a:prstGeom prst="roundRect">
            <a:avLst>
              <a:gd name="adj" fmla="val 8000"/>
            </a:avLst>
          </a:prstGeom>
          <a:solidFill>
            <a:srgbClr val="221A13">
              <a:alpha val="8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5968" y="3054096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耕作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2834640"/>
            <a:ext cx="3035808" cy="859536"/>
          </a:xfrm>
          <a:prstGeom prst="roundRect">
            <a:avLst>
              <a:gd name="adj" fmla="val 8000"/>
            </a:avLst>
          </a:prstGeom>
          <a:solidFill>
            <a:srgbClr val="221A13">
              <a:alpha val="8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3054096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采集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3895344"/>
            <a:ext cx="3035808" cy="859536"/>
          </a:xfrm>
          <a:prstGeom prst="roundRect">
            <a:avLst>
              <a:gd name="adj" fmla="val 8000"/>
            </a:avLst>
          </a:prstGeom>
          <a:solidFill>
            <a:srgbClr val="221A13">
              <a:alpha val="8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114800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经商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5968" y="3895344"/>
            <a:ext cx="3035808" cy="859536"/>
          </a:xfrm>
          <a:prstGeom prst="roundRect">
            <a:avLst>
              <a:gd name="adj" fmla="val 8000"/>
            </a:avLst>
          </a:prstGeom>
          <a:solidFill>
            <a:srgbClr val="221A13">
              <a:alpha val="8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5968" y="4114800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守卫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6096" y="3895344"/>
            <a:ext cx="3035808" cy="859536"/>
          </a:xfrm>
          <a:prstGeom prst="roundRect">
            <a:avLst>
              <a:gd name="adj" fmla="val 8000"/>
            </a:avLst>
          </a:prstGeom>
          <a:solidFill>
            <a:srgbClr val="221A13">
              <a:alpha val="8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6" y="4114800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炊事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4956048"/>
            <a:ext cx="3035808" cy="859536"/>
          </a:xfrm>
          <a:prstGeom prst="roundRect">
            <a:avLst>
              <a:gd name="adj" fmla="val 8000"/>
            </a:avLst>
          </a:prstGeom>
          <a:solidFill>
            <a:srgbClr val="221A13">
              <a:alpha val="8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175504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做工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8" y="4956048"/>
            <a:ext cx="3035808" cy="859536"/>
          </a:xfrm>
          <a:prstGeom prst="roundRect">
            <a:avLst>
              <a:gd name="adj" fmla="val 8000"/>
            </a:avLst>
          </a:prstGeom>
          <a:solidFill>
            <a:srgbClr val="221A13">
              <a:alpha val="8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15968" y="5175504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演艺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26096" y="4956048"/>
            <a:ext cx="3035808" cy="859536"/>
          </a:xfrm>
          <a:prstGeom prst="roundRect">
            <a:avLst>
              <a:gd name="adj" fmla="val 8000"/>
            </a:avLst>
          </a:prstGeom>
          <a:solidFill>
            <a:srgbClr val="221A13">
              <a:alpha val="8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6" y="5175504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待命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6016752"/>
            <a:ext cx="9509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你怎么派人，直接决定战场上有什么兵。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Picture 11" descr="deck_logo.png"/>
          <p:cNvPicPr>
            <a:picLocks noChangeAspect="1"/>
          </p:cNvPicPr>
          <p:nvPr/>
        </p:nvPicPr>
        <p:blipFill>
          <a:blip r:embed="rId3">
            <a:alphaModFix amt="5500"/>
          </a:blip>
          <a:stretch>
            <a:fillRect/>
          </a:stretch>
        </p:blipFill>
        <p:spPr>
          <a:xfrm>
            <a:off x="8214056" y="2697480"/>
            <a:ext cx="3840480" cy="3840480"/>
          </a:xfrm>
          <a:prstGeom prst="rect">
            <a:avLst/>
          </a:prstGeom>
        </p:spPr>
      </p:pic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17375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97055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17375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97055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3721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04 / 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6400800"/>
            <a:ext cx="128016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63550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坎儿井　·　代码一次敲队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6928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四个画面，看懂这个游戏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" y="1170432"/>
            <a:ext cx="3108960" cy="1778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" y="1541494"/>
            <a:ext cx="4727448" cy="1818195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4_畜牧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573498"/>
            <a:ext cx="4663440" cy="175418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914400" y="335584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畜牧页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21024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抓野畜、养牲口、擀毡织毯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38444" y="1541494"/>
            <a:ext cx="4727448" cy="1818195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4_木卡姆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1573498"/>
            <a:ext cx="4663440" cy="175418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5870448" y="335584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木卡姆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3621024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奏乐台 + 艺人 + 热瓦普，才能办一场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" y="4028662"/>
            <a:ext cx="4727448" cy="1818195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4_御敌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060666"/>
            <a:ext cx="4663440" cy="175418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914400" y="5843016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御敌之战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108192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自由布阵，兵种由岗位决定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38444" y="4028662"/>
            <a:ext cx="4727448" cy="1818195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4_灾难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0448" y="4060666"/>
            <a:ext cx="4663440" cy="175418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5870448" y="5843016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灾难通告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0448" y="6108192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插画由本地 SDXL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_deck_D_御敌布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526280"/>
            <a:ext cx="12191695" cy="2331720"/>
          </a:xfrm>
          <a:prstGeom prst="rect">
            <a:avLst/>
          </a:prstGeom>
          <a:solidFill>
            <a:srgbClr val="2B2118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4864608"/>
            <a:ext cx="137160" cy="1417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1872" y="4773169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阵型不是装饰，它决定谁活着回来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55955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同样 5 打 4、同样随机种子，只换摆法 —— 阵亡从 0 人到 3 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601675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全员压前线 0.00　·　自动布阵 1.00　·　一字纵队 1.17　·　弓手出射程 3.00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Picture 11" descr="deck_logo.png"/>
          <p:cNvPicPr>
            <a:picLocks noChangeAspect="1"/>
          </p:cNvPicPr>
          <p:nvPr/>
        </p:nvPicPr>
        <p:blipFill>
          <a:blip r:embed="rId3">
            <a:alphaModFix amt="5500"/>
          </a:blip>
          <a:stretch>
            <a:fillRect/>
          </a:stretch>
        </p:blipFill>
        <p:spPr>
          <a:xfrm>
            <a:off x="8214056" y="2697480"/>
            <a:ext cx="3840480" cy="3840480"/>
          </a:xfrm>
          <a:prstGeom prst="rect">
            <a:avLst/>
          </a:prstGeom>
        </p:spPr>
      </p:pic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17375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97055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17375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97055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3721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06 / 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6400800"/>
            <a:ext cx="128016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63550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坎儿井　·　代码一次敲队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14300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沙漠不会等你准备好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" y="1837943"/>
            <a:ext cx="3108960" cy="1778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084831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沙暴、大旱、融雪洪水、寒潮、瘟疫、蝗灾 —— 每一种都能预判，也能被建筑挡住。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9581" y="3031236"/>
            <a:ext cx="2498598" cy="3310128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isaster_sandst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585" y="3063240"/>
            <a:ext cx="2434590" cy="3246120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960120" y="6364224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本地 SDXL 生成的灾难插画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57776" y="3031236"/>
            <a:ext cx="5834888" cy="3310128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9_animal_C_灾难日志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9780" y="3063240"/>
            <a:ext cx="5770880" cy="3246120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4343400" y="6364224"/>
            <a:ext cx="6858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实机截图：沙暴来袭时的通告卡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2724912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烽燧挡沙暴　·　围墙挡洪水　·　仓库挡寒潮　·　驿馆与居所挡瘟疫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Picture 11" descr="deck_logo.png"/>
          <p:cNvPicPr>
            <a:picLocks noChangeAspect="1"/>
          </p:cNvPicPr>
          <p:nvPr/>
        </p:nvPicPr>
        <p:blipFill>
          <a:blip r:embed="rId3">
            <a:alphaModFix amt="5500"/>
          </a:blip>
          <a:stretch>
            <a:fillRect/>
          </a:stretch>
        </p:blipFill>
        <p:spPr>
          <a:xfrm>
            <a:off x="8214056" y="2697480"/>
            <a:ext cx="3840480" cy="3840480"/>
          </a:xfrm>
          <a:prstGeom prst="rect">
            <a:avLst/>
          </a:prstGeom>
        </p:spPr>
      </p:pic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17375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97055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17375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97055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3721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07 / 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6400800"/>
            <a:ext cx="128016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63550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坎儿井　·　代码一次敲队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6928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文化不是贴上去的，它管着你每天怎么活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" y="1207008"/>
            <a:ext cx="3108960" cy="1778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1874519"/>
            <a:ext cx="3035808" cy="4160520"/>
          </a:xfrm>
          <a:prstGeom prst="roundRect">
            <a:avLst>
              <a:gd name="adj" fmla="val 8000"/>
            </a:avLst>
          </a:prstGeom>
          <a:solidFill>
            <a:srgbClr val="221A13">
              <a:alpha val="80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1874519"/>
            <a:ext cx="3035808" cy="10058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226771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十二木卡姆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25296" y="2852928"/>
            <a:ext cx="1371600" cy="15240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307238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六套真实曲目可演奏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3584448"/>
            <a:ext cx="272491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要有人、有场地、有乐器，才办得起来</a:t>
            </a:r>
          </a:p>
        </p:txBody>
      </p:sp>
      <p:pic>
        <p:nvPicPr>
          <p:cNvPr id="23" name="Picture 22" descr="p7_木卡姆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259" y="4224528"/>
            <a:ext cx="2448089" cy="148132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4224528" y="1874519"/>
            <a:ext cx="3035808" cy="4160520"/>
          </a:xfrm>
          <a:prstGeom prst="roundRect">
            <a:avLst>
              <a:gd name="adj" fmla="val 8000"/>
            </a:avLst>
          </a:prstGeom>
          <a:solidFill>
            <a:srgbClr val="221A13">
              <a:alpha val="80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24528" y="1874519"/>
            <a:ext cx="3035808" cy="10058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226771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艾德莱斯绸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2852928"/>
            <a:ext cx="1371600" cy="15240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7136" y="307238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棉花 4 → 绸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3584448"/>
            <a:ext cx="272491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秋天收棉，作坊织绸，商队高价收</a:t>
            </a:r>
          </a:p>
        </p:txBody>
      </p:sp>
      <p:pic>
        <p:nvPicPr>
          <p:cNvPr id="30" name="Picture 29" descr="p7_畜牧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387" y="4224528"/>
            <a:ext cx="2448089" cy="1481328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534656" y="1874519"/>
            <a:ext cx="3035808" cy="4160520"/>
          </a:xfrm>
          <a:prstGeom prst="roundRect">
            <a:avLst>
              <a:gd name="adj" fmla="val 8000"/>
            </a:avLst>
          </a:prstGeom>
          <a:solidFill>
            <a:srgbClr val="221A13">
              <a:alpha val="80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34656" y="1874519"/>
            <a:ext cx="3035808" cy="10058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27264" y="226771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古尔邦节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45552" y="2852928"/>
            <a:ext cx="1371600" cy="15240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27264" y="307238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牲畜 ≥5 头，声望 +4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7264" y="3584448"/>
            <a:ext cx="272491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养牲口不只是经济行为，更是体面</a:t>
            </a:r>
          </a:p>
        </p:txBody>
      </p:sp>
      <p:pic>
        <p:nvPicPr>
          <p:cNvPr id="37" name="Picture 36" descr="p7_事件卡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8515" y="4224528"/>
            <a:ext cx="2448089" cy="14813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86968" y="6163056"/>
            <a:ext cx="10424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坎儿井开凿技艺 · 国家级非物质文化遗产　|　新疆坎儿井 · 2014 年入选世界灌溉工程遗产名录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11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十二木卡姆 · 2005 年列入联合国教科文组织人类口头和非物质遗产代表作名录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Picture 11" descr="deck_logo.png"/>
          <p:cNvPicPr>
            <a:picLocks noChangeAspect="1"/>
          </p:cNvPicPr>
          <p:nvPr/>
        </p:nvPicPr>
        <p:blipFill>
          <a:blip r:embed="rId3">
            <a:alphaModFix amt="5500"/>
          </a:blip>
          <a:stretch>
            <a:fillRect/>
          </a:stretch>
        </p:blipFill>
        <p:spPr>
          <a:xfrm>
            <a:off x="8214056" y="2697480"/>
            <a:ext cx="3840480" cy="3840480"/>
          </a:xfrm>
          <a:prstGeom prst="rect">
            <a:avLst/>
          </a:prstGeom>
        </p:spPr>
      </p:pic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17375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97055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17375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97055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3721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12 / 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6400800"/>
            <a:ext cx="128016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63550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坎儿井　·　代码一次敲队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9601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三件让它可以被真正玩起来的事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" y="1645920"/>
            <a:ext cx="3108960" cy="1778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2084831"/>
            <a:ext cx="9692640" cy="1133856"/>
          </a:xfrm>
          <a:prstGeom prst="roundRect">
            <a:avLst>
              <a:gd name="adj" fmla="val 8000"/>
            </a:avLst>
          </a:prstGeom>
          <a:solidFill>
            <a:srgbClr val="221A13">
              <a:alpha val="7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2084831"/>
            <a:ext cx="109728" cy="1133856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2231135"/>
            <a:ext cx="9052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AI 在线时是活的，离线时照样能玩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2688335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7 位角色由大模型实时驱动；断网后数值、存档、全部系统都在本地跑，游戏 100% 可玩。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419855"/>
            <a:ext cx="9692640" cy="1133856"/>
          </a:xfrm>
          <a:prstGeom prst="roundRect">
            <a:avLst>
              <a:gd name="adj" fmla="val 8000"/>
            </a:avLst>
          </a:prstGeom>
          <a:solidFill>
            <a:srgbClr val="221A13">
              <a:alpha val="7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3419855"/>
            <a:ext cx="109728" cy="1133856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3566159"/>
            <a:ext cx="9052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一套新系统，只改数据不碰代码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4023359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23 段数值全部外置。畜牧、灾难、加工、节庆、音乐这五套后期系统，都是加数据做出来的。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754879"/>
            <a:ext cx="9692640" cy="1133856"/>
          </a:xfrm>
          <a:prstGeom prst="roundRect">
            <a:avLst>
              <a:gd name="adj" fmla="val 8000"/>
            </a:avLst>
          </a:prstGeom>
          <a:solidFill>
            <a:srgbClr val="221A13">
              <a:alpha val="78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4754879"/>
            <a:ext cx="109728" cy="1133856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4901183"/>
            <a:ext cx="9052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像素贴图自己画，插画交给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" y="5358383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贴图要 16px 网格与 34 色板精确，用程序化生成；插画要不带像素约束的手绘感，用本地 SDXL。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Picture 11" descr="deck_logo.png"/>
          <p:cNvPicPr>
            <a:picLocks noChangeAspect="1"/>
          </p:cNvPicPr>
          <p:nvPr/>
        </p:nvPicPr>
        <p:blipFill>
          <a:blip r:embed="rId3">
            <a:alphaModFix amt="5500"/>
          </a:blip>
          <a:stretch>
            <a:fillRect/>
          </a:stretch>
        </p:blipFill>
        <p:spPr>
          <a:xfrm>
            <a:off x="8214056" y="2697480"/>
            <a:ext cx="3840480" cy="3840480"/>
          </a:xfrm>
          <a:prstGeom prst="rect">
            <a:avLst/>
          </a:prstGeom>
        </p:spPr>
      </p:pic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17375" y="27432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97055" y="27432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17375" y="6563360"/>
            <a:ext cx="237744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97055" y="6583680"/>
            <a:ext cx="20320" cy="237744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3721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20 / 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6400800"/>
            <a:ext cx="128016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63550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坎儿井　·　代码一次敲队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23444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现在做到哪儿了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" y="1929384"/>
            <a:ext cx="3108960" cy="1778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2606040"/>
            <a:ext cx="2212848" cy="2148840"/>
          </a:xfrm>
          <a:prstGeom prst="roundRect">
            <a:avLst>
              <a:gd name="adj" fmla="val 8000"/>
            </a:avLst>
          </a:prstGeom>
          <a:solidFill>
            <a:srgbClr val="221A13">
              <a:alpha val="80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5104" y="2606040"/>
            <a:ext cx="274320" cy="254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926080"/>
            <a:ext cx="22128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13,004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22128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行作品代码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38144" y="2606040"/>
            <a:ext cx="2212848" cy="2148840"/>
          </a:xfrm>
          <a:prstGeom prst="roundRect">
            <a:avLst>
              <a:gd name="adj" fmla="val 8000"/>
            </a:avLst>
          </a:prstGeom>
          <a:solidFill>
            <a:srgbClr val="221A13">
              <a:alpha val="80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7408" y="2606040"/>
            <a:ext cx="274320" cy="254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8144" y="2926080"/>
            <a:ext cx="22128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8144" y="3822191"/>
            <a:ext cx="22128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条事件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70448" y="2606040"/>
            <a:ext cx="2212848" cy="2148840"/>
          </a:xfrm>
          <a:prstGeom prst="roundRect">
            <a:avLst>
              <a:gd name="adj" fmla="val 8000"/>
            </a:avLst>
          </a:prstGeom>
          <a:solidFill>
            <a:srgbClr val="221A13">
              <a:alpha val="80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39712" y="2606040"/>
            <a:ext cx="274320" cy="254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0448" y="2926080"/>
            <a:ext cx="22128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3822191"/>
            <a:ext cx="22128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座建筑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02752" y="2606040"/>
            <a:ext cx="2212848" cy="2148840"/>
          </a:xfrm>
          <a:prstGeom prst="roundRect">
            <a:avLst>
              <a:gd name="adj" fmla="val 8000"/>
            </a:avLst>
          </a:prstGeom>
          <a:solidFill>
            <a:srgbClr val="221A13">
              <a:alpha val="80000"/>
            </a:srgbClr>
          </a:solidFill>
          <a:ln w="9525">
            <a:solidFill>
              <a:srgbClr val="60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72016" y="2606040"/>
            <a:ext cx="274320" cy="254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2926080"/>
            <a:ext cx="22128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421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3822191"/>
            <a:ext cx="22128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张美术资产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047488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全部数值与事件都是纯文本 JSON，任何人都可以直接打开核查。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57516" y="4796875"/>
            <a:ext cx="3721608" cy="1571074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9_建造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4828879"/>
            <a:ext cx="3657600" cy="1507066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_deck_A_绿洲全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2148840"/>
            <a:ext cx="137160" cy="155448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1872" y="1965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让文化活在需要它的那一刻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999232"/>
            <a:ext cx="9692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没有一段科普段落，但坎儿井、十二木卡姆、艾德莱斯绸、诺鲁孜节，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16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都在你需要它的那一刻出现。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4315968"/>
            <a:ext cx="4754880" cy="16510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49884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欢迎现场试玩　·　双击启动即开　·　AI 在线与离线两种状态都能演示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6199632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_deck_A_绿洲全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>
              <a:alpha val="57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23560"/>
            <a:ext cx="12191695" cy="1234440"/>
          </a:xfrm>
          <a:prstGeom prst="rect">
            <a:avLst/>
          </a:prstGeom>
          <a:solidFill>
            <a:srgbClr val="2B211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74320"/>
            <a:ext cx="347472" cy="254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74320"/>
            <a:ext cx="25400" cy="347472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69903" y="274320"/>
            <a:ext cx="347472" cy="254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91975" y="274320"/>
            <a:ext cx="25400" cy="347472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6558280"/>
            <a:ext cx="347472" cy="254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6236208"/>
            <a:ext cx="25400" cy="347472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69903" y="6558280"/>
            <a:ext cx="347472" cy="254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91975" y="6236208"/>
            <a:ext cx="25400" cy="347472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eck_logo.png"/>
          <p:cNvPicPr>
            <a:picLocks noChangeAspect="1"/>
          </p:cNvPicPr>
          <p:nvPr/>
        </p:nvPicPr>
        <p:blipFill>
          <a:blip r:embed="rId3">
            <a:alphaModFix amt="8500"/>
          </a:blip>
          <a:stretch>
            <a:fillRect/>
          </a:stretch>
        </p:blipFill>
        <p:spPr>
          <a:xfrm>
            <a:off x="8259775" y="640080"/>
            <a:ext cx="3291840" cy="3291840"/>
          </a:xfrm>
          <a:prstGeom prst="rect">
            <a:avLst/>
          </a:prstGeom>
          <a:ln>
            <a:noFill/>
          </a:ln>
        </p:spPr>
      </p:pic>
      <p:sp>
        <p:nvSpPr>
          <p:cNvPr id="14" name="Rectangle 13"/>
          <p:cNvSpPr/>
          <p:nvPr/>
        </p:nvSpPr>
        <p:spPr>
          <a:xfrm>
            <a:off x="868680" y="2103120"/>
            <a:ext cx="155448" cy="1389888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1938528"/>
            <a:ext cx="8595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5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《坎儿井》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98448" y="3218688"/>
            <a:ext cx="5669280" cy="17780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38328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你扮演一位丝路驿丞，用坎儿井引来天山雪水，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7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把荒漠驿站建成绿洲重镇。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5262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自主命题 · 虚拟现实与游戏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5888736"/>
            <a:ext cx="10424160" cy="11430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6016752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代码一次敲队　·　李鹏宇 / 王焕楷 / 李云天　·　指导教师 徐媛媛 / 李中岩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02 / 15</a:t>
            </a:r>
          </a:p>
        </p:txBody>
      </p:sp>
      <p:pic>
        <p:nvPicPr>
          <p:cNvPr id="15" name="Picture 14" descr="deck_logo.png"/>
          <p:cNvPicPr>
            <a:picLocks noChangeAspect="1"/>
          </p:cNvPicPr>
          <p:nvPr/>
        </p:nvPicPr>
        <p:blipFill>
          <a:blip r:embed="rId3">
            <a:alphaModFix amt="8500"/>
          </a:blip>
          <a:stretch>
            <a:fillRect/>
          </a:stretch>
        </p:blipFill>
        <p:spPr>
          <a:xfrm>
            <a:off x="7253935" y="1234440"/>
            <a:ext cx="4206240" cy="4206240"/>
          </a:xfrm>
          <a:prstGeom prst="rect">
            <a:avLst/>
          </a:prstGeom>
          <a:ln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786384" y="2103120"/>
            <a:ext cx="3657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7400" b="1">
                <a:solidFill>
                  <a:srgbClr val="A8522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487168"/>
            <a:ext cx="137160" cy="1207008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2304288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7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一、我们讲的是哪一个新疆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1089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不是风情画，是一个水利工程如何养活一片绿洲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3584448"/>
            <a:ext cx="4206240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07 / 15</a:t>
            </a:r>
          </a:p>
        </p:txBody>
      </p:sp>
      <p:pic>
        <p:nvPicPr>
          <p:cNvPr id="15" name="Picture 14" descr="deck_logo.png"/>
          <p:cNvPicPr>
            <a:picLocks noChangeAspect="1"/>
          </p:cNvPicPr>
          <p:nvPr/>
        </p:nvPicPr>
        <p:blipFill>
          <a:blip r:embed="rId3">
            <a:alphaModFix amt="8500"/>
          </a:blip>
          <a:stretch>
            <a:fillRect/>
          </a:stretch>
        </p:blipFill>
        <p:spPr>
          <a:xfrm>
            <a:off x="7253935" y="1234440"/>
            <a:ext cx="4206240" cy="4206240"/>
          </a:xfrm>
          <a:prstGeom prst="rect">
            <a:avLst/>
          </a:prstGeom>
          <a:ln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786384" y="2103120"/>
            <a:ext cx="3657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7400" b="1">
                <a:solidFill>
                  <a:srgbClr val="A8522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487168"/>
            <a:ext cx="137160" cy="1207008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2304288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7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二、四个创新点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1089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每一条都能当场演示、当场验证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3584448"/>
            <a:ext cx="4206240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08 / 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核心设计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坎儿井不是背景板，它是唯一的主线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5216" y="1499616"/>
            <a:ext cx="5175504" cy="4572000"/>
          </a:xfrm>
          <a:prstGeom prst="roundRect">
            <a:avLst>
              <a:gd name="adj" fmla="val 6000"/>
            </a:avLst>
          </a:prstGeom>
          <a:solidFill>
            <a:srgbClr val="221A13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1627632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5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不挖井，活不过第七天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5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6 段竖井逐段开挖，每段 +55 方/日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5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水 → 人口 → 劳动力，整条链条的源头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5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涝坝四级扩容（450 / 900 / 1600 / 2600 方）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5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把荒漠一步一步推成绿洲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3620" y="2002250"/>
            <a:ext cx="5431536" cy="3091243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10_deck_A_绿洲全景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043398"/>
            <a:ext cx="5349240" cy="300894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6144768" y="5669279"/>
            <a:ext cx="45720" cy="219456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5650991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实机截图：六段竖井全部挖通、涝坝满水位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09 / 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文化 → 机制 映射（一）水与农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文化拆掉之后，玩法还成立吗？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86384" y="1609344"/>
          <a:ext cx="877823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123"/>
                <a:gridCol w="4220307"/>
                <a:gridCol w="2869809"/>
              </a:tblGrid>
              <a:tr h="655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文化元素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变成什么机制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拆掉会怎样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坎儿井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段竖井，每段 +55 方/日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主线消失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涝坝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级扩容 450~2600 方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旱季无从准备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葡萄晾房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瓜果保质 8 天 → 葡萄干 120 天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过冬储粮策略消失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馕 / 粮食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保质 12 天 / 90 天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腐坏系统失去层次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棉花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秋收，可织艾德莱斯绸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手工产业链断源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10 / 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文化 → 机制 映射（二）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牧与工：养羊必须真的能换成钱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5216" y="1499616"/>
            <a:ext cx="5175504" cy="4572000"/>
          </a:xfrm>
          <a:prstGeom prst="roundRect">
            <a:avLst>
              <a:gd name="adj" fmla="val 6000"/>
            </a:avLst>
          </a:prstGeom>
          <a:solidFill>
            <a:srgbClr val="221A13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1627632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5 个真实畜种：阿勒泰细毛羊、绒山羊、双峰驼、库车驴、吐鲁番鸡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4 种野畜：盘羊、鹅喉羚、蒙古野驴、野驼 —— 派人去草原抓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抓野畜成功率随去过次数上升，失败不扣人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擀毡：羊毛 3 → 毡子 1；织毯：羊毛 6 + 织物 2 → 地毯 1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木料 6 + 工具 1 → 热瓦普 1（办木卡姆的前置道具）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3620" y="2002250"/>
            <a:ext cx="5431536" cy="3091243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9_animal_A_有牲畜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043398"/>
            <a:ext cx="5349240" cy="300894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6144768" y="5669279"/>
            <a:ext cx="45720" cy="219456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5650991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实机截图：畜牧页 —— 栏位、产出、抓野畜与扩建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11 / 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文化 → 机制 映射（三）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办一场木卡姆要人、场地、乐器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5216" y="1499616"/>
            <a:ext cx="5175504" cy="4572000"/>
          </a:xfrm>
          <a:prstGeom prst="roundRect">
            <a:avLst>
              <a:gd name="adj" fmla="val 6000"/>
            </a:avLst>
          </a:prstGeom>
          <a:solidFill>
            <a:srgbClr val="221A13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1627632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十二木卡姆，取确认无误的六套可演奏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需要：奏乐台 + 木卡姆艺人 + 库里有热瓦普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消耗 2 行动点，办完冷却 3 天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诺鲁孜节 / 葡萄熟了 / 古尔邦节 三个真实节庆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古尔邦节：家里牲畜 ≥5 头，声望额外 +4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3620" y="2002250"/>
            <a:ext cx="5431536" cy="3091243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9_animal_E_木卡姆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043398"/>
            <a:ext cx="5349240" cy="300894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6144768" y="5669279"/>
            <a:ext cx="45720" cy="219456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5650991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实机截图：点地图上的奏乐台即可办一场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13 / 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创新一 · AI 原生 + 可离线降级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AI 是放大器，不是运行的必要条件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6384" y="1737360"/>
            <a:ext cx="10625328" cy="3566160"/>
          </a:xfrm>
          <a:prstGeom prst="roundRect">
            <a:avLst>
              <a:gd name="adj" fmla="val 6000"/>
            </a:avLst>
          </a:prstGeom>
          <a:solidFill>
            <a:srgbClr val="221A13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" y="1737360"/>
            <a:ext cx="118872" cy="356616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7864" y="1993392"/>
            <a:ext cx="97840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AI 在线时：7 位角色由大模型实时驱动，各有独立人设、长期记忆、情绪与亲密度。</a:t>
            </a:r>
          </a:p>
          <a:p>
            <a:pPr algn="l">
              <a:spcBef>
                <a:spcPts val="1700"/>
              </a:spcBef>
              <a:spcAft>
                <a:spcPts val="300"/>
              </a:spcAft>
            </a:pPr>
            <a:r>
              <a:rPr sz="15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玩家用自然语言对话，不是选选项；角色会记住你说过的话、许过的承诺。</a:t>
            </a:r>
          </a:p>
          <a:p>
            <a:pPr algn="l">
              <a:spcBef>
                <a:spcPts val="1700"/>
              </a:spcBef>
              <a:spcAft>
                <a:spcPts val="300"/>
              </a:spcAft>
            </a:pPr>
            <a:r>
              <a:rPr sz="1500" b="0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AI 离线时：数值、状态、存档、全部系统逻辑都在本地 —— 游戏 100% 可玩。</a:t>
            </a:r>
          </a:p>
          <a:p>
            <a:pPr algn="l">
              <a:spcBef>
                <a:spcPts val="1700"/>
              </a:spcBef>
              <a:spcAft>
                <a:spcPts val="300"/>
              </a:spcAft>
            </a:pPr>
            <a:r>
              <a:rPr sz="15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这让作品从「演示品」变成「能交付的产品」：断网、API 挂掉，游戏都不会变成一块砖。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14 / 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创新二 · 数据驱动架构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23 段数值全部外置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5216" y="1499616"/>
            <a:ext cx="5175504" cy="4572000"/>
          </a:xfrm>
          <a:prstGeom prst="roundRect">
            <a:avLst>
              <a:gd name="adj" fmla="val 6000"/>
            </a:avLst>
          </a:prstGeom>
          <a:solidFill>
            <a:srgbClr val="221A13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1627632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data/numbers.json 共 23 个顶层数据段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水利 / 建筑 / 人口 / 农业 / 探索 / 战斗 / 外交 / 经济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后期新增畜牧、灾难、加工、节庆、音乐五套系统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全部玩法调优都靠改数据完成，不碰代码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配套 verify.py 做 48 项结构与数值自洽校验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3620" y="2002250"/>
            <a:ext cx="5431536" cy="3091243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10_deck_C_事件卡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043398"/>
            <a:ext cx="5349240" cy="300894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6144768" y="5669279"/>
            <a:ext cx="45720" cy="219456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5650991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实机截图：事件卡 —— 64 条事件库中的一条，带选项与后果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15 / 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创新三 · 双轨美术生产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该程序化的程序化，该上 AI 的上 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86384" y="1609344"/>
          <a:ext cx="877823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030"/>
                <a:gridCol w="3199545"/>
                <a:gridCol w="3445664"/>
              </a:tblGrid>
              <a:tr h="6217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资产类型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生产工具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像素贴图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+ Pillow 程序化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 16px 网格与 34 色板精确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插画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本地 ComfyUI + SDXL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要手绘感、不受像素约束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色板一致性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 色统一 + 逐文件审计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421 张 PNG 全部合规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灾难插画 6 张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本地 SDXL 自动出图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全流程可复现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16 / 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创新四 · 可验证性工程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388 项断言证明它能跑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86384" y="1609344"/>
          <a:ext cx="877823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2184"/>
                <a:gridCol w="1012873"/>
                <a:gridCol w="5233181"/>
              </a:tblGrid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测试套件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断言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覆盖重点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logic_test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水利平衡、建造、事件结算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battle_edge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以少打多、交战存读档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livestock_disaster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102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畜牧 / 灾难 / 加工 / 节庆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input_probe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真实输入事件走完整管线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verify.py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跨文件引用、水平衡、一致性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17 / 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玩法深度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9 个岗位争同一批人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5216" y="1499616"/>
            <a:ext cx="5175504" cy="4572000"/>
          </a:xfrm>
          <a:prstGeom prst="roundRect">
            <a:avLst>
              <a:gd name="adj" fmla="val 6000"/>
            </a:avLst>
          </a:prstGeom>
          <a:solidFill>
            <a:srgbClr val="221A13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1627632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9 岗位：治水 / 耕作 / 采集 / 经商 / 守卫 / 炊事 / 做工 / 演艺 / 待命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自由布阵：整片布阵区随便站，不是固定格子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兵种由岗位决定：守卫→盾卫、采集→弓手、其余→乡勇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实测：5 打 4，摆法不同阵亡相差 0.00 ~ 3.00 人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6 种灾难各有能挡它的建筑（烽燧 / 围墙 / 仓库 / 驿馆）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3620" y="2002250"/>
            <a:ext cx="5431536" cy="3091243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10_deck_D_御敌布阵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043398"/>
            <a:ext cx="5349240" cy="300894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6144768" y="5669279"/>
            <a:ext cx="45720" cy="219456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5650991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实机截图：御敌之战自由布阵，五人三色兵种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18 / 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实测数据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阵型真的影响胜负：同样 5 人打 4 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86384" y="1609344"/>
          <a:ext cx="905255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614"/>
                <a:gridCol w="1448409"/>
                <a:gridCol w="5431536"/>
              </a:tblGrid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摆法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平均阵亡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全员压前线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五个人挤成一条线，敌人逐个撞上来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自动布阵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1.00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盾卫在前、弓手在后，差 20px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一字纵队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1.17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纵深拉太开，前排被打完才轮到后排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弓手出射程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3.00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弓手站到 52px 射程之外 —— 最差摆法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786384" y="4498848"/>
            <a:ext cx="10625328" cy="1188720"/>
          </a:xfrm>
          <a:prstGeom prst="roundRect">
            <a:avLst>
              <a:gd name="adj" fmla="val 6000"/>
            </a:avLst>
          </a:prstGeom>
          <a:solidFill>
            <a:srgbClr val="221A13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" y="4498848"/>
            <a:ext cx="109728" cy="11887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2" y="4663440"/>
            <a:ext cx="9966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同样 5 打 4、同样随机种子，只换摆法，阵亡从 0 人到 3 人 —— 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摆法真的决定胜负，不是装饰。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797296"/>
            <a:ext cx="10058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每种摆法各跑 6 遍、共用同一组随机种子（scripts/tests/formation_probe.gd）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19 / 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交付状态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可运行、可核查、可扩展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5216" y="1499616"/>
            <a:ext cx="5175504" cy="4572000"/>
          </a:xfrm>
          <a:prstGeom prst="roundRect">
            <a:avLst>
              <a:gd name="adj" fmla="val 6000"/>
            </a:avLst>
          </a:prstGeom>
          <a:solidFill>
            <a:srgbClr val="221A13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1627632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双击启动即玩，无需安装任何环境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13,004 行作品代码 · 事件 64 条 · 建筑 13 座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421 张美术 · 189 个音频 · 25 张实机截图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全部数值与事件为纯文本 JSON，任何人可核查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增加新畜种 / 新灾难 / 新曲目只需改数据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3620" y="2002250"/>
            <a:ext cx="5431536" cy="3091243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9_animal_C_灾难日志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043398"/>
            <a:ext cx="5349240" cy="300894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6144768" y="5669279"/>
            <a:ext cx="45720" cy="219456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5650991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实机截图：沙暴通告卡，插画由本地 SDXL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15 / 15</a:t>
            </a:r>
          </a:p>
        </p:txBody>
      </p:sp>
      <p:pic>
        <p:nvPicPr>
          <p:cNvPr id="15" name="Picture 14" descr="deck_logo.png"/>
          <p:cNvPicPr>
            <a:picLocks noChangeAspect="1"/>
          </p:cNvPicPr>
          <p:nvPr/>
        </p:nvPicPr>
        <p:blipFill>
          <a:blip r:embed="rId3">
            <a:alphaModFix amt="8500"/>
          </a:blip>
          <a:stretch>
            <a:fillRect/>
          </a:stretch>
        </p:blipFill>
        <p:spPr>
          <a:xfrm>
            <a:off x="7711135" y="1737360"/>
            <a:ext cx="3840480" cy="3840480"/>
          </a:xfrm>
          <a:prstGeom prst="rect">
            <a:avLst/>
          </a:prstGeom>
          <a:ln>
            <a:noFill/>
          </a:ln>
        </p:spPr>
      </p:pic>
      <p:sp>
        <p:nvSpPr>
          <p:cNvPr id="16" name="Rectangle 15"/>
          <p:cNvSpPr/>
          <p:nvPr/>
        </p:nvSpPr>
        <p:spPr>
          <a:xfrm>
            <a:off x="786384" y="2212848"/>
            <a:ext cx="137160" cy="1298448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2048256"/>
            <a:ext cx="9692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让文化活在需要它的那一刻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3310128"/>
            <a:ext cx="4572000" cy="15240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493008"/>
            <a:ext cx="8778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没有一段科普段落，但坎儿井、十二木卡姆、艾德莱斯绸、诺鲁孜节，都在需要它的那一刻出现。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617720"/>
            <a:ext cx="9509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欢迎现场试玩　·　双击启动即开　·　AI 在线与离线两种状态都能演示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