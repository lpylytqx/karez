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_deck_A_绿洲全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>
              <a:alpha val="57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23560"/>
            <a:ext cx="12191695" cy="1234440"/>
          </a:xfrm>
          <a:prstGeom prst="rect">
            <a:avLst/>
          </a:prstGeom>
          <a:solidFill>
            <a:srgbClr val="2B211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74320"/>
            <a:ext cx="347472" cy="254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274320"/>
            <a:ext cx="25400" cy="347472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69903" y="274320"/>
            <a:ext cx="347472" cy="254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91975" y="274320"/>
            <a:ext cx="25400" cy="347472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6558280"/>
            <a:ext cx="347472" cy="254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6236208"/>
            <a:ext cx="25400" cy="347472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69903" y="6558280"/>
            <a:ext cx="347472" cy="254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91975" y="6236208"/>
            <a:ext cx="25400" cy="347472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eck_logo.png"/>
          <p:cNvPicPr>
            <a:picLocks noChangeAspect="1"/>
          </p:cNvPicPr>
          <p:nvPr/>
        </p:nvPicPr>
        <p:blipFill>
          <a:blip r:embed="rId3">
            <a:alphaModFix amt="8500"/>
          </a:blip>
          <a:stretch>
            <a:fillRect/>
          </a:stretch>
        </p:blipFill>
        <p:spPr>
          <a:xfrm>
            <a:off x="8259775" y="640080"/>
            <a:ext cx="3291840" cy="3291840"/>
          </a:xfrm>
          <a:prstGeom prst="rect">
            <a:avLst/>
          </a:prstGeom>
          <a:ln>
            <a:noFill/>
          </a:ln>
        </p:spPr>
      </p:pic>
      <p:sp>
        <p:nvSpPr>
          <p:cNvPr id="14" name="Rectangle 13"/>
          <p:cNvSpPr/>
          <p:nvPr/>
        </p:nvSpPr>
        <p:spPr>
          <a:xfrm>
            <a:off x="868680" y="2103120"/>
            <a:ext cx="155448" cy="1389888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1872" y="1938528"/>
            <a:ext cx="8595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56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《坎儿井》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98448" y="3218688"/>
            <a:ext cx="5669280" cy="17780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338328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你扮演一位丝路驿丞，用坎儿井引来天山雪水，</a:t>
            </a:r>
          </a:p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70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把荒漠驿站建成绿洲重镇。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5262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自主命题 · 虚拟现实与游戏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5888736"/>
            <a:ext cx="10424160" cy="11430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6016752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代码一次敲队　·　李鹏宇 / 王焕楷 / 李云天　·　指导教师 徐媛媛 / 李中岩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896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06479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0479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06479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60479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274320"/>
            <a:ext cx="548640" cy="548640"/>
          </a:xfrm>
          <a:prstGeom prst="rect">
            <a:avLst/>
          </a:prstGeom>
          <a:ln>
            <a:noFill/>
          </a:ln>
        </p:spPr>
      </p:pic>
      <p:sp>
        <p:nvSpPr>
          <p:cNvPr id="12" name="Rectangle 11"/>
          <p:cNvSpPr/>
          <p:nvPr/>
        </p:nvSpPr>
        <p:spPr>
          <a:xfrm>
            <a:off x="11231575" y="914400"/>
            <a:ext cx="576072" cy="1524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《坎儿井》· 代码一次敲队　·　指导教师 徐媛媛 / 李中岩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0080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02 / 15</a:t>
            </a:r>
          </a:p>
        </p:txBody>
      </p:sp>
      <p:pic>
        <p:nvPicPr>
          <p:cNvPr id="15" name="Picture 14" descr="deck_logo.png"/>
          <p:cNvPicPr>
            <a:picLocks noChangeAspect="1"/>
          </p:cNvPicPr>
          <p:nvPr/>
        </p:nvPicPr>
        <p:blipFill>
          <a:blip r:embed="rId3">
            <a:alphaModFix amt="8500"/>
          </a:blip>
          <a:stretch>
            <a:fillRect/>
          </a:stretch>
        </p:blipFill>
        <p:spPr>
          <a:xfrm>
            <a:off x="7253935" y="1234440"/>
            <a:ext cx="4206240" cy="4206240"/>
          </a:xfrm>
          <a:prstGeom prst="rect">
            <a:avLst/>
          </a:prstGeom>
          <a:ln>
            <a:noFill/>
          </a:ln>
        </p:spPr>
      </p:pic>
      <p:sp>
        <p:nvSpPr>
          <p:cNvPr id="16" name="TextBox 15"/>
          <p:cNvSpPr txBox="1"/>
          <p:nvPr/>
        </p:nvSpPr>
        <p:spPr>
          <a:xfrm>
            <a:off x="786384" y="2103120"/>
            <a:ext cx="3657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7400" b="1">
                <a:solidFill>
                  <a:srgbClr val="A8522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487168"/>
            <a:ext cx="137160" cy="1207008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2304288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7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一、我们讲的是哪一个新疆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10896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不是风情画，是一个水利工程如何养活一片绿洲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3584448"/>
            <a:ext cx="4206240" cy="1524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896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06479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0479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06479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60479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274320"/>
            <a:ext cx="548640" cy="548640"/>
          </a:xfrm>
          <a:prstGeom prst="rect">
            <a:avLst/>
          </a:prstGeom>
          <a:ln>
            <a:noFill/>
          </a:ln>
        </p:spPr>
      </p:pic>
      <p:sp>
        <p:nvSpPr>
          <p:cNvPr id="12" name="Rectangle 11"/>
          <p:cNvSpPr/>
          <p:nvPr/>
        </p:nvSpPr>
        <p:spPr>
          <a:xfrm>
            <a:off x="11231575" y="914400"/>
            <a:ext cx="576072" cy="1524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《坎儿井》· 代码一次敲队　·　指导教师 徐媛媛 / 李中岩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0080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07 / 15</a:t>
            </a:r>
          </a:p>
        </p:txBody>
      </p:sp>
      <p:pic>
        <p:nvPicPr>
          <p:cNvPr id="15" name="Picture 14" descr="deck_logo.png"/>
          <p:cNvPicPr>
            <a:picLocks noChangeAspect="1"/>
          </p:cNvPicPr>
          <p:nvPr/>
        </p:nvPicPr>
        <p:blipFill>
          <a:blip r:embed="rId3">
            <a:alphaModFix amt="8500"/>
          </a:blip>
          <a:stretch>
            <a:fillRect/>
          </a:stretch>
        </p:blipFill>
        <p:spPr>
          <a:xfrm>
            <a:off x="7253935" y="1234440"/>
            <a:ext cx="4206240" cy="4206240"/>
          </a:xfrm>
          <a:prstGeom prst="rect">
            <a:avLst/>
          </a:prstGeom>
          <a:ln>
            <a:noFill/>
          </a:ln>
        </p:spPr>
      </p:pic>
      <p:sp>
        <p:nvSpPr>
          <p:cNvPr id="16" name="TextBox 15"/>
          <p:cNvSpPr txBox="1"/>
          <p:nvPr/>
        </p:nvSpPr>
        <p:spPr>
          <a:xfrm>
            <a:off x="786384" y="2103120"/>
            <a:ext cx="3657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7400" b="1">
                <a:solidFill>
                  <a:srgbClr val="A8522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487168"/>
            <a:ext cx="137160" cy="1207008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2304288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7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二、四个创新点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10896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每一条都能当场演示、当场验证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3584448"/>
            <a:ext cx="4206240" cy="1524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896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06479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0479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06479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60479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274320"/>
            <a:ext cx="548640" cy="548640"/>
          </a:xfrm>
          <a:prstGeom prst="rect">
            <a:avLst/>
          </a:prstGeom>
          <a:ln>
            <a:noFill/>
          </a:ln>
        </p:spPr>
      </p:pic>
      <p:sp>
        <p:nvSpPr>
          <p:cNvPr id="12" name="Rectangle 11"/>
          <p:cNvSpPr/>
          <p:nvPr/>
        </p:nvSpPr>
        <p:spPr>
          <a:xfrm>
            <a:off x="11231575" y="914400"/>
            <a:ext cx="576072" cy="1524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《坎儿井》· 代码一次敲队　·　指导教师 徐媛媛 / 李中岩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0080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03 /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57200"/>
            <a:ext cx="91440" cy="4572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02336"/>
            <a:ext cx="10625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核心设计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676656"/>
            <a:ext cx="10625328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坎儿井不是背景板，它是唯一的主线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1335024"/>
            <a:ext cx="10625328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85216" y="1499616"/>
            <a:ext cx="5175504" cy="4572000"/>
          </a:xfrm>
          <a:prstGeom prst="roundRect">
            <a:avLst>
              <a:gd name="adj" fmla="val 6000"/>
            </a:avLst>
          </a:prstGeom>
          <a:solidFill>
            <a:srgbClr val="221A13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1627632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50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不挖井，活不过第七天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50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6 段竖井逐段开挖，每段 +55 方/日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50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水 → 人口 → 劳动力，整条链条的源头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50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涝坝四级扩容（450 / 900 / 1600 / 2600 方）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50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把荒漠一步一步推成绿洲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3620" y="2002250"/>
            <a:ext cx="5431536" cy="3091243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10_deck_A_绿洲全景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2043398"/>
            <a:ext cx="5349240" cy="3008947"/>
          </a:xfrm>
          <a:prstGeom prst="rect">
            <a:avLst/>
          </a:prstGeom>
          <a:ln w="15875">
            <a:solidFill>
              <a:srgbClr val="E0A43C"/>
            </a:solidFill>
          </a:ln>
        </p:spPr>
      </p:pic>
      <p:sp>
        <p:nvSpPr>
          <p:cNvPr id="23" name="Rectangle 22"/>
          <p:cNvSpPr/>
          <p:nvPr/>
        </p:nvSpPr>
        <p:spPr>
          <a:xfrm>
            <a:off x="6144768" y="5669279"/>
            <a:ext cx="45720" cy="219456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5650991"/>
            <a:ext cx="5349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实机截图：六段竖井全部挖通、涝坝满水位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896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06479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0479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06479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60479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274320"/>
            <a:ext cx="548640" cy="548640"/>
          </a:xfrm>
          <a:prstGeom prst="rect">
            <a:avLst/>
          </a:prstGeom>
          <a:ln>
            <a:noFill/>
          </a:ln>
        </p:spPr>
      </p:pic>
      <p:sp>
        <p:nvSpPr>
          <p:cNvPr id="12" name="Rectangle 11"/>
          <p:cNvSpPr/>
          <p:nvPr/>
        </p:nvSpPr>
        <p:spPr>
          <a:xfrm>
            <a:off x="11231575" y="914400"/>
            <a:ext cx="576072" cy="1524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《坎儿井》· 代码一次敲队　·　指导教师 徐媛媛 / 李中岩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0080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04 /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57200"/>
            <a:ext cx="91440" cy="4572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02336"/>
            <a:ext cx="10625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文化 → 机制 映射（一）水与农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676656"/>
            <a:ext cx="10625328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文化拆掉之后，玩法还成立吗？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1335024"/>
            <a:ext cx="10625328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86384" y="1609344"/>
          <a:ext cx="8778239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123"/>
                <a:gridCol w="4220307"/>
                <a:gridCol w="2869809"/>
              </a:tblGrid>
              <a:tr h="655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11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文化元素</a:t>
                      </a:r>
                    </a:p>
                  </a:txBody>
                  <a:tcPr marL="64008" marR="45720" marT="18288" marB="18288" anchor="ctr">
                    <a:solidFill>
                      <a:srgbClr val="E0A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11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变成什么机制</a:t>
                      </a:r>
                    </a:p>
                  </a:txBody>
                  <a:tcPr marL="64008" marR="45720" marT="18288" marB="18288" anchor="ctr">
                    <a:solidFill>
                      <a:srgbClr val="E0A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11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拆掉会怎样</a:t>
                      </a:r>
                    </a:p>
                  </a:txBody>
                  <a:tcPr marL="64008" marR="45720" marT="18288" marB="18288" anchor="ctr">
                    <a:solidFill>
                      <a:srgbClr val="E0A43C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坎儿井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段竖井，每段 +55 方/日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主线消失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涝坝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级扩容 450~2600 方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旱季无从准备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葡萄晾房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瓜果保质 8 天 → 葡萄干 120 天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过冬储粮策略消失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馕 / 粮食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保质 12 天 / 90 天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腐坏系统失去层次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棉花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秋收，可织艾德莱斯绸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手工产业链断源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896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06479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0479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06479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60479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274320"/>
            <a:ext cx="548640" cy="548640"/>
          </a:xfrm>
          <a:prstGeom prst="rect">
            <a:avLst/>
          </a:prstGeom>
          <a:ln>
            <a:noFill/>
          </a:ln>
        </p:spPr>
      </p:pic>
      <p:sp>
        <p:nvSpPr>
          <p:cNvPr id="12" name="Rectangle 11"/>
          <p:cNvSpPr/>
          <p:nvPr/>
        </p:nvSpPr>
        <p:spPr>
          <a:xfrm>
            <a:off x="11231575" y="914400"/>
            <a:ext cx="576072" cy="1524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《坎儿井》· 代码一次敲队　·　指导教师 徐媛媛 / 李中岩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0080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05 /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57200"/>
            <a:ext cx="91440" cy="4572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02336"/>
            <a:ext cx="10625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文化 → 机制 映射（二）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676656"/>
            <a:ext cx="10625328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牧与工：养羊必须真的能换成钱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1335024"/>
            <a:ext cx="10625328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85216" y="1499616"/>
            <a:ext cx="5175504" cy="4572000"/>
          </a:xfrm>
          <a:prstGeom prst="roundRect">
            <a:avLst>
              <a:gd name="adj" fmla="val 6000"/>
            </a:avLst>
          </a:prstGeom>
          <a:solidFill>
            <a:srgbClr val="221A13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1627632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5 个真实畜种：阿勒泰细毛羊、绒山羊、双峰驼、库车驴、吐鲁番鸡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4 种野畜：盘羊、鹅喉羚、蒙古野驴、野驼 —— 派人去草原抓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抓野畜成功率随去过次数上升，失败不扣人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擀毡：羊毛 3 → 毡子 1；织毯：羊毛 6 + 织物 2 → 地毯 1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木料 6 + 工具 1 → 热瓦普 1（办木卡姆的前置道具）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3620" y="2002250"/>
            <a:ext cx="5431536" cy="3091243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9_animal_A_有牲畜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2043398"/>
            <a:ext cx="5349240" cy="3008947"/>
          </a:xfrm>
          <a:prstGeom prst="rect">
            <a:avLst/>
          </a:prstGeom>
          <a:ln w="15875">
            <a:solidFill>
              <a:srgbClr val="E0A43C"/>
            </a:solidFill>
          </a:ln>
        </p:spPr>
      </p:pic>
      <p:sp>
        <p:nvSpPr>
          <p:cNvPr id="23" name="Rectangle 22"/>
          <p:cNvSpPr/>
          <p:nvPr/>
        </p:nvSpPr>
        <p:spPr>
          <a:xfrm>
            <a:off x="6144768" y="5669279"/>
            <a:ext cx="45720" cy="219456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5650991"/>
            <a:ext cx="5349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实机截图：畜牧页 —— 栏位、产出、抓野畜与扩建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896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06479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0479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06479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60479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274320"/>
            <a:ext cx="548640" cy="548640"/>
          </a:xfrm>
          <a:prstGeom prst="rect">
            <a:avLst/>
          </a:prstGeom>
          <a:ln>
            <a:noFill/>
          </a:ln>
        </p:spPr>
      </p:pic>
      <p:sp>
        <p:nvSpPr>
          <p:cNvPr id="12" name="Rectangle 11"/>
          <p:cNvSpPr/>
          <p:nvPr/>
        </p:nvSpPr>
        <p:spPr>
          <a:xfrm>
            <a:off x="11231575" y="914400"/>
            <a:ext cx="576072" cy="1524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《坎儿井》· 代码一次敲队　·　指导教师 徐媛媛 / 李中岩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0080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06 /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57200"/>
            <a:ext cx="91440" cy="4572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02336"/>
            <a:ext cx="10625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文化 → 机制 映射（三）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676656"/>
            <a:ext cx="10625328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办一场木卡姆要人、场地、乐器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1335024"/>
            <a:ext cx="10625328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85216" y="1499616"/>
            <a:ext cx="5175504" cy="4572000"/>
          </a:xfrm>
          <a:prstGeom prst="roundRect">
            <a:avLst>
              <a:gd name="adj" fmla="val 6000"/>
            </a:avLst>
          </a:prstGeom>
          <a:solidFill>
            <a:srgbClr val="221A13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1627632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十二木卡姆，取确认无误的六套可演奏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需要：奏乐台 + 木卡姆艺人 + 库里有热瓦普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消耗 2 行动点，办完冷却 3 天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诺鲁孜节 / 葡萄熟了 / 古尔邦节 三个真实节庆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古尔邦节：家里牲畜 ≥5 头，声望额外 +4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3620" y="2002250"/>
            <a:ext cx="5431536" cy="3091243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9_animal_E_木卡姆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2043398"/>
            <a:ext cx="5349240" cy="3008947"/>
          </a:xfrm>
          <a:prstGeom prst="rect">
            <a:avLst/>
          </a:prstGeom>
          <a:ln w="15875">
            <a:solidFill>
              <a:srgbClr val="E0A43C"/>
            </a:solidFill>
          </a:ln>
        </p:spPr>
      </p:pic>
      <p:sp>
        <p:nvSpPr>
          <p:cNvPr id="23" name="Rectangle 22"/>
          <p:cNvSpPr/>
          <p:nvPr/>
        </p:nvSpPr>
        <p:spPr>
          <a:xfrm>
            <a:off x="6144768" y="5669279"/>
            <a:ext cx="45720" cy="219456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5650991"/>
            <a:ext cx="5349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实机截图：点地图上的奏乐台即可办一场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896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06479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0479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06479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60479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274320"/>
            <a:ext cx="548640" cy="548640"/>
          </a:xfrm>
          <a:prstGeom prst="rect">
            <a:avLst/>
          </a:prstGeom>
          <a:ln>
            <a:noFill/>
          </a:ln>
        </p:spPr>
      </p:pic>
      <p:sp>
        <p:nvSpPr>
          <p:cNvPr id="12" name="Rectangle 11"/>
          <p:cNvSpPr/>
          <p:nvPr/>
        </p:nvSpPr>
        <p:spPr>
          <a:xfrm>
            <a:off x="11231575" y="914400"/>
            <a:ext cx="576072" cy="1524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《坎儿井》· 代码一次敲队　·　指导教师 徐媛媛 / 李中岩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0080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08 /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57200"/>
            <a:ext cx="91440" cy="4572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02336"/>
            <a:ext cx="10625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创新一 · AI 原生 + 可离线降级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676656"/>
            <a:ext cx="10625328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AI 是放大器，不是运行的必要条件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1335024"/>
            <a:ext cx="10625328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86384" y="1737360"/>
            <a:ext cx="10625328" cy="3566160"/>
          </a:xfrm>
          <a:prstGeom prst="roundRect">
            <a:avLst>
              <a:gd name="adj" fmla="val 6000"/>
            </a:avLst>
          </a:prstGeom>
          <a:solidFill>
            <a:srgbClr val="221A13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6384" y="1737360"/>
            <a:ext cx="118872" cy="356616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97864" y="1993392"/>
            <a:ext cx="97840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AI 在线时：7 位角色由大模型实时驱动，各有独立人设、长期记忆、情绪与亲密度。</a:t>
            </a:r>
          </a:p>
          <a:p>
            <a:pPr algn="l">
              <a:spcBef>
                <a:spcPts val="1700"/>
              </a:spcBef>
              <a:spcAft>
                <a:spcPts val="300"/>
              </a:spcAft>
            </a:pPr>
            <a:r>
              <a:rPr sz="150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玩家用自然语言对话，不是选选项；角色会记住你说过的话、许过的承诺。</a:t>
            </a:r>
          </a:p>
          <a:p>
            <a:pPr algn="l">
              <a:spcBef>
                <a:spcPts val="1700"/>
              </a:spcBef>
              <a:spcAft>
                <a:spcPts val="300"/>
              </a:spcAft>
            </a:pPr>
            <a:r>
              <a:rPr sz="1500" b="0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AI 离线时：数值、状态、存档、全部系统逻辑都在本地 —— 游戏 100% 可玩。</a:t>
            </a:r>
          </a:p>
          <a:p>
            <a:pPr algn="l">
              <a:spcBef>
                <a:spcPts val="1700"/>
              </a:spcBef>
              <a:spcAft>
                <a:spcPts val="300"/>
              </a:spcAft>
            </a:pPr>
            <a:r>
              <a:rPr sz="150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这让作品从「演示品」变成「能交付的产品」：断网、API 挂掉，游戏都不会变成一块砖。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896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06479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0479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06479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60479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274320"/>
            <a:ext cx="548640" cy="548640"/>
          </a:xfrm>
          <a:prstGeom prst="rect">
            <a:avLst/>
          </a:prstGeom>
          <a:ln>
            <a:noFill/>
          </a:ln>
        </p:spPr>
      </p:pic>
      <p:sp>
        <p:nvSpPr>
          <p:cNvPr id="12" name="Rectangle 11"/>
          <p:cNvSpPr/>
          <p:nvPr/>
        </p:nvSpPr>
        <p:spPr>
          <a:xfrm>
            <a:off x="11231575" y="914400"/>
            <a:ext cx="576072" cy="1524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《坎儿井》· 代码一次敲队　·　指导教师 徐媛媛 / 李中岩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0080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09 /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57200"/>
            <a:ext cx="91440" cy="4572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02336"/>
            <a:ext cx="10625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创新二 · 数据驱动架构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676656"/>
            <a:ext cx="10625328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23 段数值全部外置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1335024"/>
            <a:ext cx="10625328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85216" y="1499616"/>
            <a:ext cx="5175504" cy="4572000"/>
          </a:xfrm>
          <a:prstGeom prst="roundRect">
            <a:avLst>
              <a:gd name="adj" fmla="val 6000"/>
            </a:avLst>
          </a:prstGeom>
          <a:solidFill>
            <a:srgbClr val="221A13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1627632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data/numbers.json 共 23 个顶层数据段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水利 / 建筑 / 人口 / 农业 / 探索 / 战斗 / 外交 / 经济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后期新增畜牧、灾难、加工、节庆、音乐五套系统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全部玩法调优都靠改数据完成，不碰代码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配套 verify.py 做 48 项结构与数值自洽校验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3620" y="2002250"/>
            <a:ext cx="5431536" cy="3091243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10_deck_C_事件卡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2043398"/>
            <a:ext cx="5349240" cy="3008947"/>
          </a:xfrm>
          <a:prstGeom prst="rect">
            <a:avLst/>
          </a:prstGeom>
          <a:ln w="15875">
            <a:solidFill>
              <a:srgbClr val="E0A43C"/>
            </a:solidFill>
          </a:ln>
        </p:spPr>
      </p:pic>
      <p:sp>
        <p:nvSpPr>
          <p:cNvPr id="23" name="Rectangle 22"/>
          <p:cNvSpPr/>
          <p:nvPr/>
        </p:nvSpPr>
        <p:spPr>
          <a:xfrm>
            <a:off x="6144768" y="5669279"/>
            <a:ext cx="45720" cy="219456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5650991"/>
            <a:ext cx="5349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实机截图：事件卡 —— 64 条事件库中的一条，带选项与后果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896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06479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0479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06479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60479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274320"/>
            <a:ext cx="548640" cy="548640"/>
          </a:xfrm>
          <a:prstGeom prst="rect">
            <a:avLst/>
          </a:prstGeom>
          <a:ln>
            <a:noFill/>
          </a:ln>
        </p:spPr>
      </p:pic>
      <p:sp>
        <p:nvSpPr>
          <p:cNvPr id="12" name="Rectangle 11"/>
          <p:cNvSpPr/>
          <p:nvPr/>
        </p:nvSpPr>
        <p:spPr>
          <a:xfrm>
            <a:off x="11231575" y="914400"/>
            <a:ext cx="576072" cy="1524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《坎儿井》· 代码一次敲队　·　指导教师 徐媛媛 / 李中岩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0080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10 /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57200"/>
            <a:ext cx="91440" cy="4572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02336"/>
            <a:ext cx="10625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创新三 · 双轨美术生产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676656"/>
            <a:ext cx="10625328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该程序化的程序化，该上 AI 的上 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1335024"/>
            <a:ext cx="10625328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86384" y="1609344"/>
          <a:ext cx="877823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030"/>
                <a:gridCol w="3199545"/>
                <a:gridCol w="3445664"/>
              </a:tblGrid>
              <a:tr h="62179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11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资产类型</a:t>
                      </a:r>
                    </a:p>
                  </a:txBody>
                  <a:tcPr marL="64008" marR="45720" marT="18288" marB="18288" anchor="ctr">
                    <a:solidFill>
                      <a:srgbClr val="E0A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11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生产工具</a:t>
                      </a:r>
                    </a:p>
                  </a:txBody>
                  <a:tcPr marL="64008" marR="45720" marT="18288" marB="18288" anchor="ctr">
                    <a:solidFill>
                      <a:srgbClr val="E0A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11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为什么</a:t>
                      </a:r>
                    </a:p>
                  </a:txBody>
                  <a:tcPr marL="64008" marR="45720" marT="18288" marB="18288" anchor="ctr">
                    <a:solidFill>
                      <a:srgbClr val="E0A43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像素贴图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Python + Pillow 程序化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 16px 网格与 34 色板精确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插画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本地 ComfyUI + SDXL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要手绘感、不受像素约束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色板一致性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 色统一 + 逐文件审计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419 张 PNG 全部合规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灾难插画 6 张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本地 SDXL 自动出图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全流程可复现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896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06479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0479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06479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60479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274320"/>
            <a:ext cx="548640" cy="548640"/>
          </a:xfrm>
          <a:prstGeom prst="rect">
            <a:avLst/>
          </a:prstGeom>
          <a:ln>
            <a:noFill/>
          </a:ln>
        </p:spPr>
      </p:pic>
      <p:sp>
        <p:nvSpPr>
          <p:cNvPr id="12" name="Rectangle 11"/>
          <p:cNvSpPr/>
          <p:nvPr/>
        </p:nvSpPr>
        <p:spPr>
          <a:xfrm>
            <a:off x="11231575" y="914400"/>
            <a:ext cx="576072" cy="1524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《坎儿井》· 代码一次敲队　·　指导教师 徐媛媛 / 李中岩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0080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11 /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57200"/>
            <a:ext cx="91440" cy="4572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02336"/>
            <a:ext cx="10625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创新四 · 可验证性工程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676656"/>
            <a:ext cx="10625328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371 项断言证明它能跑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1335024"/>
            <a:ext cx="10625328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86384" y="1609344"/>
          <a:ext cx="8778238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2184"/>
                <a:gridCol w="1012873"/>
                <a:gridCol w="5233181"/>
              </a:tblGrid>
              <a:tr h="5943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11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测试套件</a:t>
                      </a:r>
                    </a:p>
                  </a:txBody>
                  <a:tcPr marL="64008" marR="45720" marT="18288" marB="18288" anchor="ctr">
                    <a:solidFill>
                      <a:srgbClr val="E0A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11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断言</a:t>
                      </a:r>
                    </a:p>
                  </a:txBody>
                  <a:tcPr marL="64008" marR="45720" marT="18288" marB="18288" anchor="ctr">
                    <a:solidFill>
                      <a:srgbClr val="E0A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B211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覆盖重点</a:t>
                      </a:r>
                    </a:p>
                  </a:txBody>
                  <a:tcPr marL="64008" marR="45720" marT="18288" marB="18288" anchor="ctr">
                    <a:solidFill>
                      <a:srgbClr val="E0A43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logic_test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47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水利平衡、建造、事件结算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battle_edge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85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以少打多、交战存读档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livestock_disaster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102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畜牧 / 灾难 / 加工 / 节庆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input_probe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真实输入事件走完整管线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verify.py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48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跨文件引用、水平衡、一致性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896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06479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0479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06479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60479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274320"/>
            <a:ext cx="548640" cy="548640"/>
          </a:xfrm>
          <a:prstGeom prst="rect">
            <a:avLst/>
          </a:prstGeom>
          <a:ln>
            <a:noFill/>
          </a:ln>
        </p:spPr>
      </p:pic>
      <p:sp>
        <p:nvSpPr>
          <p:cNvPr id="12" name="Rectangle 11"/>
          <p:cNvSpPr/>
          <p:nvPr/>
        </p:nvSpPr>
        <p:spPr>
          <a:xfrm>
            <a:off x="11231575" y="914400"/>
            <a:ext cx="576072" cy="1524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《坎儿井》· 代码一次敲队　·　指导教师 徐媛媛 / 李中岩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0080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12 /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57200"/>
            <a:ext cx="91440" cy="4572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02336"/>
            <a:ext cx="10625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玩法深度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676656"/>
            <a:ext cx="10625328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9 个岗位争同一批人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1335024"/>
            <a:ext cx="10625328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85216" y="1499616"/>
            <a:ext cx="5175504" cy="4572000"/>
          </a:xfrm>
          <a:prstGeom prst="roundRect">
            <a:avLst>
              <a:gd name="adj" fmla="val 6000"/>
            </a:avLst>
          </a:prstGeom>
          <a:solidFill>
            <a:srgbClr val="221A13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1627632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9 岗位：治水 / 耕作 / 采集 / 经商 / 守卫 / 炊事 / 做工 / 演艺 / 待命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自由布阵：整片布阵区随便站，不是固定格子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兵种由岗位决定：守卫→盾卫、采集→弓手、其余→乡勇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实测：5 打 4，摆法不同阵亡相差 0.00 ~ 3.00 人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6 种灾难各有能挡它的建筑（烽燧 / 围墙 / 仓库 / 驿馆）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3620" y="2002250"/>
            <a:ext cx="5431536" cy="3091243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10_deck_D_御敌布阵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2043398"/>
            <a:ext cx="5349240" cy="3008947"/>
          </a:xfrm>
          <a:prstGeom prst="rect">
            <a:avLst/>
          </a:prstGeom>
          <a:ln w="15875">
            <a:solidFill>
              <a:srgbClr val="E0A43C"/>
            </a:solidFill>
          </a:ln>
        </p:spPr>
      </p:pic>
      <p:sp>
        <p:nvSpPr>
          <p:cNvPr id="23" name="Rectangle 22"/>
          <p:cNvSpPr/>
          <p:nvPr/>
        </p:nvSpPr>
        <p:spPr>
          <a:xfrm>
            <a:off x="6144768" y="5669279"/>
            <a:ext cx="45720" cy="219456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5650991"/>
            <a:ext cx="5349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实机截图：御敌之战自由布阵，五人三色兵种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896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06479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0479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06479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60479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274320"/>
            <a:ext cx="548640" cy="548640"/>
          </a:xfrm>
          <a:prstGeom prst="rect">
            <a:avLst/>
          </a:prstGeom>
          <a:ln>
            <a:noFill/>
          </a:ln>
        </p:spPr>
      </p:pic>
      <p:sp>
        <p:nvSpPr>
          <p:cNvPr id="12" name="Rectangle 11"/>
          <p:cNvSpPr/>
          <p:nvPr/>
        </p:nvSpPr>
        <p:spPr>
          <a:xfrm>
            <a:off x="11231575" y="914400"/>
            <a:ext cx="576072" cy="1524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《坎儿井》· 代码一次敲队　·　指导教师 徐媛媛 / 李中岩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0080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13 /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57200"/>
            <a:ext cx="91440" cy="4572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02336"/>
            <a:ext cx="10625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实测数据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676656"/>
            <a:ext cx="10625328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阵型真的影响胜负：同样 5 人打 4 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1335024"/>
            <a:ext cx="10625328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86384" y="1609344"/>
          <a:ext cx="9052559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2614"/>
                <a:gridCol w="1448409"/>
                <a:gridCol w="5431536"/>
              </a:tblGrid>
              <a:tr h="5303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211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摆法</a:t>
                      </a:r>
                    </a:p>
                  </a:txBody>
                  <a:tcPr marL="64008" marR="45720" marT="18288" marB="18288" anchor="ctr">
                    <a:solidFill>
                      <a:srgbClr val="E0A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211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平均阵亡</a:t>
                      </a:r>
                    </a:p>
                  </a:txBody>
                  <a:tcPr marL="64008" marR="45720" marT="18288" marB="18288" anchor="ctr">
                    <a:solidFill>
                      <a:srgbClr val="E0A4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211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64008" marR="45720" marT="18288" marB="18288" anchor="ctr">
                    <a:solidFill>
                      <a:srgbClr val="E0A43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全员压前线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0.00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五个人挤成一条线，敌人逐个撞上来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自动布阵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1.00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盾卫在前、弓手在后，差 20px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一字纵队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1.17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纵深拉太开，前排被打完才轮到后排</a:t>
                      </a:r>
                    </a:p>
                  </a:txBody>
                  <a:tcPr marL="64008" marR="45720" marT="18288" marB="18288" anchor="ctr">
                    <a:solidFill>
                      <a:srgbClr val="221A1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弓手出射程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3.00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0E4D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弓手站到 52px 射程之外 —— 最差摆法</a:t>
                      </a:r>
                    </a:p>
                  </a:txBody>
                  <a:tcPr marL="64008" marR="45720" marT="18288" marB="18288" anchor="ctr">
                    <a:solidFill>
                      <a:srgbClr val="2B2118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786384" y="4498848"/>
            <a:ext cx="10625328" cy="1188720"/>
          </a:xfrm>
          <a:prstGeom prst="roundRect">
            <a:avLst>
              <a:gd name="adj" fmla="val 6000"/>
            </a:avLst>
          </a:prstGeom>
          <a:solidFill>
            <a:srgbClr val="221A13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" y="4498848"/>
            <a:ext cx="109728" cy="11887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0432" y="4663440"/>
            <a:ext cx="9966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同样 5 打 4、同样随机种子，只换摆法，阵亡从 0 人到 3 人 —— </a:t>
            </a:r>
          </a:p>
          <a:p>
            <a:pPr algn="l">
              <a:spcBef>
                <a:spcPts val="200"/>
              </a:spcBef>
              <a:spcAft>
                <a:spcPts val="300"/>
              </a:spcAft>
            </a:pPr>
            <a:r>
              <a:rPr sz="15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摆法真的决定胜负，不是装饰。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797296"/>
            <a:ext cx="10058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每种摆法各跑 6 遍、共用同一组随机种子（scripts/tests/formation_probe.gd）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896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06479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0479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06479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60479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274320"/>
            <a:ext cx="548640" cy="548640"/>
          </a:xfrm>
          <a:prstGeom prst="rect">
            <a:avLst/>
          </a:prstGeom>
          <a:ln>
            <a:noFill/>
          </a:ln>
        </p:spPr>
      </p:pic>
      <p:sp>
        <p:nvSpPr>
          <p:cNvPr id="12" name="Rectangle 11"/>
          <p:cNvSpPr/>
          <p:nvPr/>
        </p:nvSpPr>
        <p:spPr>
          <a:xfrm>
            <a:off x="11231575" y="914400"/>
            <a:ext cx="576072" cy="1524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《坎儿井》· 代码一次敲队　·　指导教师 徐媛媛 / 李中岩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0080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14 /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57200"/>
            <a:ext cx="91440" cy="4572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02336"/>
            <a:ext cx="10625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交付状态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676656"/>
            <a:ext cx="10625328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可运行、可核查、可扩展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1335024"/>
            <a:ext cx="10625328" cy="1270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85216" y="1499616"/>
            <a:ext cx="5175504" cy="4572000"/>
          </a:xfrm>
          <a:prstGeom prst="roundRect">
            <a:avLst>
              <a:gd name="adj" fmla="val 6000"/>
            </a:avLst>
          </a:prstGeom>
          <a:solidFill>
            <a:srgbClr val="221A13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1627632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双击启动即玩，无需安装任何环境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12,910 行有效代码 · 事件 64 条 · 建筑 13 座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419 张美术 · 377 个音频 · 70+ 张实机截图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全部数值与事件为纯文本 JSON，任何人可核查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0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增加新畜种 / 新灾难 / 新曲目只需改数据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3620" y="2002250"/>
            <a:ext cx="5431536" cy="3091243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9_animal_C_灾难日志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2043398"/>
            <a:ext cx="5349240" cy="3008947"/>
          </a:xfrm>
          <a:prstGeom prst="rect">
            <a:avLst/>
          </a:prstGeom>
          <a:ln w="15875">
            <a:solidFill>
              <a:srgbClr val="E0A43C"/>
            </a:solidFill>
          </a:ln>
        </p:spPr>
      </p:pic>
      <p:sp>
        <p:nvSpPr>
          <p:cNvPr id="23" name="Rectangle 22"/>
          <p:cNvSpPr/>
          <p:nvPr/>
        </p:nvSpPr>
        <p:spPr>
          <a:xfrm>
            <a:off x="6144768" y="5669279"/>
            <a:ext cx="45720" cy="219456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5650991"/>
            <a:ext cx="5349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实机截图：沙暴通告卡，插画由本地 SDXL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896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06479" y="310896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60479" y="310896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06479" y="6526784"/>
            <a:ext cx="274320" cy="20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60479" y="6272784"/>
            <a:ext cx="20320" cy="27432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274320"/>
            <a:ext cx="548640" cy="548640"/>
          </a:xfrm>
          <a:prstGeom prst="rect">
            <a:avLst/>
          </a:prstGeom>
          <a:ln>
            <a:noFill/>
          </a:ln>
        </p:spPr>
      </p:pic>
      <p:sp>
        <p:nvSpPr>
          <p:cNvPr id="12" name="Rectangle 11"/>
          <p:cNvSpPr/>
          <p:nvPr/>
        </p:nvSpPr>
        <p:spPr>
          <a:xfrm>
            <a:off x="11231575" y="914400"/>
            <a:ext cx="576072" cy="15240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《坎儿井》· 代码一次敲队　·　指导教师 徐媛媛 / 李中岩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0080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15 / 15</a:t>
            </a:r>
          </a:p>
        </p:txBody>
      </p:sp>
      <p:pic>
        <p:nvPicPr>
          <p:cNvPr id="15" name="Picture 14" descr="deck_logo.png"/>
          <p:cNvPicPr>
            <a:picLocks noChangeAspect="1"/>
          </p:cNvPicPr>
          <p:nvPr/>
        </p:nvPicPr>
        <p:blipFill>
          <a:blip r:embed="rId3">
            <a:alphaModFix amt="8500"/>
          </a:blip>
          <a:stretch>
            <a:fillRect/>
          </a:stretch>
        </p:blipFill>
        <p:spPr>
          <a:xfrm>
            <a:off x="7711135" y="1737360"/>
            <a:ext cx="3840480" cy="3840480"/>
          </a:xfrm>
          <a:prstGeom prst="rect">
            <a:avLst/>
          </a:prstGeom>
          <a:ln>
            <a:noFill/>
          </a:ln>
        </p:spPr>
      </p:pic>
      <p:sp>
        <p:nvSpPr>
          <p:cNvPr id="16" name="Rectangle 15"/>
          <p:cNvSpPr/>
          <p:nvPr/>
        </p:nvSpPr>
        <p:spPr>
          <a:xfrm>
            <a:off x="786384" y="2212848"/>
            <a:ext cx="137160" cy="1298448"/>
          </a:xfrm>
          <a:prstGeom prst="rect">
            <a:avLst/>
          </a:prstGeom>
          <a:solidFill>
            <a:srgbClr val="E0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2048256"/>
            <a:ext cx="9692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4000" b="1">
                <a:solidFill>
                  <a:srgbClr val="F0E4D0"/>
                </a:solidFill>
                <a:latin typeface="微软雅黑"/>
                <a:ea typeface="微软雅黑"/>
                <a:cs typeface="微软雅黑"/>
              </a:rPr>
              <a:t>让文化活在需要它的那一刻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0" y="3310128"/>
            <a:ext cx="4572000" cy="15240"/>
          </a:xfrm>
          <a:prstGeom prst="rect">
            <a:avLst/>
          </a:prstGeom>
          <a:solidFill>
            <a:srgbClr val="A85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493008"/>
            <a:ext cx="8778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B5A48C"/>
                </a:solidFill>
                <a:latin typeface="微软雅黑"/>
                <a:ea typeface="微软雅黑"/>
                <a:cs typeface="微软雅黑"/>
              </a:rPr>
              <a:t>没有一段科普段落，但坎儿井、十二木卡姆、艾德莱斯绸、诺鲁孜节，都在需要它的那一刻出现。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617720"/>
            <a:ext cx="9509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0A43C"/>
                </a:solidFill>
                <a:latin typeface="微软雅黑"/>
                <a:ea typeface="微软雅黑"/>
                <a:cs typeface="微软雅黑"/>
              </a:rPr>
              <a:t>欢迎现场试玩　·　双击启动即开　·　AI 在线与离线两种状态都能演示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